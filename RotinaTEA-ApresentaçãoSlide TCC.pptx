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0" Type="http://schemas.openxmlformats.org/officeDocument/2006/relationships/image" Target="../media/image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2.png"/><Relationship Id="rId10" Type="http://schemas.openxmlformats.org/officeDocument/2006/relationships/image" Target="../media/image43.png"/><Relationship Id="rId4" Type="http://schemas.openxmlformats.org/officeDocument/2006/relationships/image" Target="../media/image38.png"/><Relationship Id="rId9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0" y="5140523"/>
            <a:ext cx="5524500" cy="533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95287"/>
            <a:ext cx="24765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1374427"/>
            <a:ext cx="9001125" cy="236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209"/>
              </a:lnSpc>
            </a:pPr>
            <a:r>
              <a:rPr sz="5400" b="1" i="0" u="none">
                <a:solidFill>
                  <a:srgbClr val="3B82F6"/>
                </a:solidFill>
                <a:latin typeface="Poppins"/>
              </a:rPr>
              <a:t>RotinaTEA:</a:t>
            </a:r>
            <a:r>
              <a:rPr sz="5400" b="1" i="0" u="none">
                <a:solidFill>
                  <a:srgbClr val="0F172A"/>
                </a:solidFill>
                <a:latin typeface="Poppins"/>
              </a:rPr>
              <a:t> Tecnologia Assistiva e Inclusão Escolar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978473"/>
            <a:ext cx="85725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Lato"/>
              </a:rPr>
              <a:t>Aplicativo Web/Mobile com Prancha de Rotina Visual Interativa e Temporizador Visual com Registro de Crises para Alunos com TEA.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33375"/>
            <a:ext cx="1304925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50" b="1" i="0" u="none">
                <a:solidFill>
                  <a:srgbClr val="3B82F6"/>
                </a:solidFill>
                <a:latin typeface="Poppins"/>
              </a:rPr>
              <a:t>RotinaTEA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4807743"/>
            <a:ext cx="10858500" cy="157906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743075"/>
            <a:ext cx="3429000" cy="26836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743075"/>
            <a:ext cx="3429000" cy="26836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1743075"/>
            <a:ext cx="3429000" cy="26836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762000"/>
            <a:ext cx="114014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293B"/>
                </a:solidFill>
                <a:latin typeface="Poppins SemiBold"/>
              </a:rPr>
              <a:t>Análise de Sistemas e </a:t>
            </a:r>
            <a:r>
              <a:rPr sz="3150" b="0" i="0" u="none">
                <a:solidFill>
                  <a:srgbClr val="3B82F6"/>
                </a:solidFill>
                <a:latin typeface="Poppins SemiBold"/>
              </a:rPr>
              <a:t>Diferencial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95287"/>
            <a:ext cx="2476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1063" y="2638425"/>
            <a:ext cx="298037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oppins"/>
              </a:rPr>
              <a:t>Rotina Divertida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095625"/>
            <a:ext cx="283845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Lato"/>
              </a:rPr>
              <a:t>Focado em gamificação infantil. Faltam ferramentas analíticas e métricas comportamentais voltadas para a sala de aula.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5813" y="2638425"/>
            <a:ext cx="298037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oppins"/>
              </a:rPr>
              <a:t>Tiimo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3095625"/>
            <a:ext cx="283845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Lato"/>
              </a:rPr>
              <a:t>Excelente agendamento visual, porém voltado a adultos/jovens neurodivergentes. Possui alta complexidade e custo elevado.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0563" y="2638425"/>
            <a:ext cx="298037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oppins"/>
              </a:rPr>
              <a:t>SymboTalk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095625"/>
            <a:ext cx="283845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Lato"/>
              </a:rPr>
              <a:t>Focado primordialmente em Comunicação Alternativa (CAA). Não possui temporizadores integrados ou controle de desregulação.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00" y="5359151"/>
            <a:ext cx="3619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52600" y="5093493"/>
            <a:ext cx="986123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Poppins"/>
              </a:rPr>
              <a:t>O Nosso Diferencial Inovador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2600" y="5522118"/>
            <a:ext cx="939165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334155"/>
                </a:solidFill>
                <a:latin typeface="Lato Medium"/>
              </a:rPr>
              <a:t>A integração da prancha visual interativa da criança com um </a:t>
            </a:r>
            <a:r>
              <a:rPr sz="1425" b="1" i="0" u="none">
                <a:solidFill>
                  <a:srgbClr val="334155"/>
                </a:solidFill>
                <a:latin typeface="Lato"/>
              </a:rPr>
              <a:t>botão de registro rápido de crises em 1 clique</a:t>
            </a:r>
            <a:r>
              <a:rPr sz="1425" b="0" i="0" u="none">
                <a:solidFill>
                  <a:srgbClr val="334155"/>
                </a:solidFill>
                <a:latin typeface="Lato Medium"/>
              </a:rPr>
              <a:t> para o professor, cruzando dados de conclusão de tarefas com gatilhos comportamentais de forma automática para o PEI.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3125" y="2076450"/>
            <a:ext cx="476250" cy="3810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9312" y="2076450"/>
            <a:ext cx="333375" cy="381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72625" y="2076450"/>
            <a:ext cx="476250" cy="381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8200" y="333375"/>
            <a:ext cx="1304925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50" b="1" i="0" u="none">
                <a:solidFill>
                  <a:srgbClr val="3B82F6"/>
                </a:solidFill>
                <a:latin typeface="Poppins"/>
              </a:rPr>
              <a:t>RotinaTEA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1743075"/>
            <a:ext cx="462915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" y="762000"/>
            <a:ext cx="114014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293B"/>
                </a:solidFill>
                <a:latin typeface="Poppins SemiBold"/>
              </a:rPr>
              <a:t>Metodologia de Desenvolvimento: </a:t>
            </a:r>
            <a:r>
              <a:rPr sz="3150" b="0" i="0" u="none">
                <a:solidFill>
                  <a:srgbClr val="3B82F6"/>
                </a:solidFill>
                <a:latin typeface="Poppins SemiBold"/>
              </a:rPr>
              <a:t>Kanban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95287"/>
            <a:ext cx="24765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375" y="1743075"/>
            <a:ext cx="5229225" cy="1266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Lato SemiBold"/>
              </a:rPr>
              <a:t>Gestão Visual de Fluxo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O projeto utiliza quadros Kanban para mapear visualmente as etapas: </a:t>
            </a:r>
            <a:r>
              <a:rPr sz="1500" b="0" i="1" u="none">
                <a:solidFill>
                  <a:srgbClr val="475569"/>
                </a:solidFill>
                <a:latin typeface="Lato"/>
              </a:rPr>
              <a:t>Backlog, To Do, Doing, Code Review e Done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, garantindo transparência.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" y="3248025"/>
            <a:ext cx="5229225" cy="1266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Lato SemiBold"/>
              </a:rPr>
              <a:t>Limitação de Trabalho (WIP Limits)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Foco em concluir tarefas (ex: módulo de relatórios) antes de iniciar novas, evitando gargalos no desenvolvimento da aplicação.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" y="4752975"/>
            <a:ext cx="5229225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Lato SemiBold"/>
              </a:rPr>
              <a:t>Entregas Contínuas (MVP)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Priorização das funcionalidades críticas primeiro (Prancha Visual e Temporizador) para validação rápida com educadores.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" y="5953125"/>
            <a:ext cx="5229225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1E293B"/>
                </a:solidFill>
                <a:latin typeface="Lato SemiBold"/>
              </a:rPr>
              <a:t>Adaptação e Flexibilidade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Permite a repriorização de requisitos técnicos (como a arquitetura offline-first) com base nos impedimentos encontrados.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100" y="1743075"/>
            <a:ext cx="4629150" cy="4572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1771650"/>
            <a:ext cx="2286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3276600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781550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5981700"/>
            <a:ext cx="228600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200" y="333375"/>
            <a:ext cx="1304925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50" b="1" i="0" u="none">
                <a:solidFill>
                  <a:srgbClr val="3B82F6"/>
                </a:solidFill>
                <a:latin typeface="Poppins"/>
              </a:rPr>
              <a:t>RotinaTEA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743075"/>
            <a:ext cx="5238750" cy="49244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43075"/>
            <a:ext cx="5238750" cy="4924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" y="2981325"/>
            <a:ext cx="4457700" cy="971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4143375"/>
            <a:ext cx="4457700" cy="971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5305425"/>
            <a:ext cx="4457700" cy="971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025" y="2981325"/>
            <a:ext cx="4457700" cy="971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7025" y="4143375"/>
            <a:ext cx="4457700" cy="971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7025" y="5305425"/>
            <a:ext cx="4457700" cy="971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6750" y="762000"/>
            <a:ext cx="114014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293B"/>
                </a:solidFill>
                <a:latin typeface="Poppins SemiBold"/>
              </a:rPr>
              <a:t>Engenharia de </a:t>
            </a:r>
            <a:r>
              <a:rPr sz="3150" b="0" i="0" u="none">
                <a:solidFill>
                  <a:srgbClr val="3B82F6"/>
                </a:solidFill>
                <a:latin typeface="Poppins SemiBold"/>
              </a:rPr>
              <a:t>Requisitos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395287"/>
            <a:ext cx="24765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33525" y="2133600"/>
            <a:ext cx="4180522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3B82F6"/>
                </a:solidFill>
                <a:latin typeface="Poppins"/>
              </a:rPr>
              <a:t>Funcionais (RF)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7275" y="2676525"/>
            <a:ext cx="44577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86600" y="2133600"/>
            <a:ext cx="4250531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3B82F6"/>
                </a:solidFill>
                <a:latin typeface="Poppins"/>
              </a:rPr>
              <a:t>Não Funcionais (RNF)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7025" y="2676525"/>
            <a:ext cx="44577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7275" y="2200275"/>
            <a:ext cx="333375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5875" y="3171825"/>
            <a:ext cx="4038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Lato"/>
              </a:rPr>
              <a:t>RF01 - Prancha Visual Interativa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5875" y="4333875"/>
            <a:ext cx="4038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Lato"/>
              </a:rPr>
              <a:t>RF02 - Temporizador Visual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5875" y="5495925"/>
            <a:ext cx="4038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Lato"/>
              </a:rPr>
              <a:t>RF03 - Registro Rápido de Crise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7025" y="2200275"/>
            <a:ext cx="266700" cy="266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05625" y="3171825"/>
            <a:ext cx="4038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Lato"/>
              </a:rPr>
              <a:t>RNF01 - Acessibilidade Cognitiva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5625" y="4333875"/>
            <a:ext cx="4038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Lato"/>
              </a:rPr>
              <a:t>RNF02 - Arquitetura Offline-First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5625" y="5495925"/>
            <a:ext cx="4038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Lato"/>
              </a:rPr>
              <a:t>RNF03 - Privacidade (LGPD)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33375"/>
            <a:ext cx="1304925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50" b="1" i="0" u="none">
                <a:solidFill>
                  <a:srgbClr val="3B82F6"/>
                </a:solidFill>
                <a:latin typeface="Poppins"/>
              </a:rPr>
              <a:t>RotinaTEA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152501"/>
            <a:ext cx="762000" cy="76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" y="4163764"/>
            <a:ext cx="762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" y="6319837"/>
            <a:ext cx="762000" cy="76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762000"/>
            <a:ext cx="114014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293B"/>
                </a:solidFill>
                <a:latin typeface="Poppins SemiBold"/>
              </a:rPr>
              <a:t>Principais </a:t>
            </a:r>
            <a:r>
              <a:rPr sz="3150" b="0" i="0" u="none">
                <a:solidFill>
                  <a:srgbClr val="3B82F6"/>
                </a:solidFill>
                <a:latin typeface="Poppins SemiBold"/>
              </a:rPr>
              <a:t>Regras de Negócio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95287"/>
            <a:ext cx="247650" cy="2476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333500" y="1743075"/>
            <a:ext cx="9525000" cy="1580852"/>
          </a:xfrm>
          <a:prstGeom prst="roundRect">
            <a:avLst>
              <a:gd name="adj" fmla="val 72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90750" y="2438251"/>
            <a:ext cx="8286750" cy="599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Lato"/>
              </a:rPr>
              <a:t>Obrigatoriedade de Timestamps (Crise)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3500" y="3609677"/>
            <a:ext cx="9525000" cy="1870323"/>
          </a:xfrm>
          <a:prstGeom prst="roundRect">
            <a:avLst>
              <a:gd name="adj" fmla="val 6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0750" y="4449514"/>
            <a:ext cx="8286750" cy="744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Lato"/>
              </a:rPr>
              <a:t>Anonimização na Origem (LGPD)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33500" y="5765750"/>
            <a:ext cx="9525000" cy="1870323"/>
          </a:xfrm>
          <a:prstGeom prst="roundRect">
            <a:avLst>
              <a:gd name="adj" fmla="val 6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90750" y="6605587"/>
            <a:ext cx="8286750" cy="252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Lato"/>
              </a:rPr>
              <a:t>Prioridade de Persistência Local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3314402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00275" y="2449710"/>
            <a:ext cx="82677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Qualquer registro de crise gerado pelo professor deve salvar obrigatoriamente um Timestamp de Início e um Timestamp de Fim, não sendo permitida a exclusão de um registro em andamento sem conclusão.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33500" y="547047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00275" y="4316313"/>
            <a:ext cx="826770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É estritamente proibido exibir o nome completo, CPF ou fotos identificáveis do aluno nos relatórios exportados e dashboards da direção. Todo o rastreamento deve ser vinculado a um "Código Aluno" (Ex: ALN-8921).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7626548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00275" y="6472386"/>
            <a:ext cx="8267700" cy="385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475569"/>
                </a:solidFill>
                <a:latin typeface="Lato"/>
              </a:rPr>
              <a:t>Em caso de instabilidade de rede detectada, as interações da prancha e os registros de crise devem ser gravados primeiramente no banco local (IndexedDB) antes da tentativa de envio para a API via Service Worker.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333375"/>
            <a:ext cx="1304925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50" b="1" i="0" u="none">
                <a:solidFill>
                  <a:srgbClr val="3B82F6"/>
                </a:solidFill>
                <a:latin typeface="Poppins"/>
              </a:rPr>
              <a:t>RotinaTEA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762000"/>
            <a:ext cx="114014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293B"/>
                </a:solidFill>
                <a:latin typeface="Poppins SemiBold"/>
              </a:rPr>
              <a:t>Matriz de </a:t>
            </a:r>
            <a:r>
              <a:rPr sz="3150" b="0" i="0" u="none">
                <a:solidFill>
                  <a:srgbClr val="3B82F6"/>
                </a:solidFill>
                <a:latin typeface="Poppins SemiBold"/>
              </a:rPr>
              <a:t>Rastreabilidade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395287"/>
            <a:ext cx="247650" cy="24765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6750" y="1743075"/>
          <a:ext cx="10839448" cy="4307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3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3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6771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E293B"/>
                          </a:solidFill>
                          <a:latin typeface="Poppins SemiBold"/>
                        </a:rPr>
                        <a:t>Requisito Origem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E293B"/>
                          </a:solidFill>
                          <a:latin typeface="Poppins SemiBold"/>
                        </a:rPr>
                        <a:t>Regra de Negócio Vinculada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E293B"/>
                          </a:solidFill>
                          <a:latin typeface="Poppins SemiBold"/>
                        </a:rPr>
                        <a:t>Caso de Teste (Validação)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677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RF03 Registro Rápido de Crise (1 clique)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RN01 Obrigatório Timestamp de Início e Fim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CT01 Clicar no botão "Crise" e tentar fechar a sessão sem finalizá-la.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677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RNF02 Arquitetura Offline-First (PWA)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RN03 Prioridade de Persistência Local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CT02 Desligar Wi-Fi, concluir uma tarefa no App e checar gravação no IndexedDB.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6772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RNF03 Privacidade (LGPD)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RN02 Anonimização na Origem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Lato"/>
                        </a:rPr>
                        <a:t>CT03 Gerar relatório em PDF e confirmar a ausência do nome real da criança.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76275" y="2514600"/>
            <a:ext cx="32517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928020" y="2514600"/>
            <a:ext cx="37937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1798" y="2514600"/>
            <a:ext cx="37939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6275" y="3598515"/>
            <a:ext cx="32517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928020" y="3598515"/>
            <a:ext cx="37937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21798" y="3598515"/>
            <a:ext cx="37939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275" y="4682430"/>
            <a:ext cx="32517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28020" y="4682430"/>
            <a:ext cx="379377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21798" y="4682430"/>
            <a:ext cx="37939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2752725"/>
            <a:ext cx="600075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3770" y="2752725"/>
            <a:ext cx="59055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7548" y="2752725"/>
            <a:ext cx="59055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3836640"/>
            <a:ext cx="70485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3770" y="3973710"/>
            <a:ext cx="628650" cy="3429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7548" y="3836640"/>
            <a:ext cx="619125" cy="342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5194845"/>
            <a:ext cx="714375" cy="342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13770" y="5194845"/>
            <a:ext cx="619125" cy="342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7548" y="4920555"/>
            <a:ext cx="628650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8200" y="333375"/>
            <a:ext cx="1304925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50" b="1" i="0" u="none">
                <a:solidFill>
                  <a:srgbClr val="3B82F6"/>
                </a:solidFill>
                <a:latin typeface="Poppins"/>
              </a:rPr>
              <a:t>RotinaTEA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933575"/>
            <a:ext cx="3365450" cy="429175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200" y="1933575"/>
            <a:ext cx="3365450" cy="42917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650" y="1933575"/>
            <a:ext cx="3365450" cy="42917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762000"/>
            <a:ext cx="114014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293B"/>
                </a:solidFill>
                <a:latin typeface="Poppins SemiBold"/>
              </a:rPr>
              <a:t>Modelo de Qualidade de Software </a:t>
            </a:r>
            <a:r>
              <a:rPr sz="3150" b="0" i="0" u="none">
                <a:solidFill>
                  <a:srgbClr val="3B82F6"/>
                </a:solidFill>
                <a:latin typeface="Poppins SemiBold"/>
              </a:rPr>
              <a:t>(ISO/IEC 25010)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95287"/>
            <a:ext cx="24765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775" y="2333625"/>
            <a:ext cx="857250" cy="857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99307" y="3429000"/>
            <a:ext cx="150018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293B"/>
                </a:solidFill>
                <a:latin typeface="Poppins"/>
              </a:rPr>
              <a:t>Usabilidade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3905250"/>
            <a:ext cx="2755850" cy="1920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Acessibilidade Cognitiva: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A interface foi planejada para mitigar sobrecarga sensorial (cores atenuadas, ícones padronizados) e proteger contra erros acidentais, garantindo operabilidade intuitiva para o aluno.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7226" y="2333625"/>
            <a:ext cx="857250" cy="857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60734" y="3429000"/>
            <a:ext cx="187023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293B"/>
                </a:solidFill>
                <a:latin typeface="Poppins"/>
              </a:rPr>
              <a:t>Confiabilidade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000" y="3905250"/>
            <a:ext cx="2755850" cy="1920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Tolerância a Falhas de Rede: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O foco na maturidade da arquitetura PWA e armazenamento local garante que o registro de crises permaneça disponível mesmo em infraestruturas escolares com internet instável.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3676" y="2333625"/>
            <a:ext cx="857250" cy="857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52215" y="3429000"/>
            <a:ext cx="138017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293B"/>
                </a:solidFill>
                <a:latin typeface="Poppins"/>
              </a:rPr>
              <a:t>Segurança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4450" y="3905250"/>
            <a:ext cx="2755850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Confidencialidade e Integridade: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Aderência direta à LGPD por meio da anonimização de dados de menores e controle de acessos (JWT), garantindo que apenas profissionais autorizados acessem as métricas.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2713" y="2571750"/>
            <a:ext cx="333375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351" y="2571750"/>
            <a:ext cx="381000" cy="3810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4176" y="2571750"/>
            <a:ext cx="476250" cy="381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8200" y="333375"/>
            <a:ext cx="1304925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50" b="1" i="0" u="none">
                <a:solidFill>
                  <a:srgbClr val="3B82F6"/>
                </a:solidFill>
                <a:latin typeface="Poppins"/>
              </a:rPr>
              <a:t>RotinaTEA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627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Lato</vt:lpstr>
      <vt:lpstr>Lato Medium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raiderZ</dc:creator>
  <cp:keywords/>
  <dc:description>generated using python-pptx</dc:description>
  <cp:lastModifiedBy>Caio NASCIMENTO</cp:lastModifiedBy>
  <cp:revision>2</cp:revision>
  <dcterms:created xsi:type="dcterms:W3CDTF">2013-01-27T09:14:16Z</dcterms:created>
  <dcterms:modified xsi:type="dcterms:W3CDTF">2026-09-02T02:43:39Z</dcterms:modified>
  <cp:category/>
</cp:coreProperties>
</file>